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/>
  <p:sldIdLst>
    <p:sldId id="256" r:id="rId1"/>
    <p:sldId id="257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theme" Target="theme/theme1.xml"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838200" y="457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1F5C46"/>
                </a:solidFill>
              </a:rPr>
              <a:t>Eigenvalues and Eigenvectors</a:t>
            </a:r>
          </a:p>
        </p:txBody>
      </p:sp>
      <p:sp>
        <p:nvSpPr>
          <p:cNvPr id="3" name="Body"/>
          <p:cNvSpPr/>
          <p:nvPr/>
        </p:nvSpPr>
        <p:spPr>
          <a:xfrm>
            <a:off x="838200" y="1828800"/>
            <a:ext cx="7772400" cy="3886200"/>
          </a:xfrm>
          <a:prstGeom prst="rect">
            <a:avLst/>
          </a:prstGeom>
        </p:spPr>
        <p:txBody>
          <a:bodyPr/>
          <a:lstStyle/>
          <a:p>
            <a:pPr marL="285750">
              <a:buChar char="•"/>
            </a:pPr>
            <a:r>
              <a:rPr lang="en-US" sz="1800" b="0">
                <a:solidFill>
                  <a:srgbClr val="333333"/>
                </a:solidFill>
              </a:rPr>
              <a:t>An eigenvector keeps its direction under A.</a:t>
            </a:r>
          </a:p>
          <a:p>
            <a:pPr marL="285750">
              <a:buChar char="•"/>
            </a:pPr>
            <a:r>
              <a:rPr lang="en-US" sz="1800" b="0">
                <a:solidFill>
                  <a:srgbClr val="333333"/>
                </a:solidFill>
              </a:rPr>
              <a:t>The eigenvalue is the stretch factor: Av = lambda v.</a:t>
            </a:r>
          </a:p>
          <a:p>
            <a:pPr marL="285750">
              <a:buNone/>
            </a:pPr>
            <a:r>
              <a:rPr lang="en-US" sz="1800" b="0">
                <a:solidFill>
                  <a:srgbClr val="1F5C46"/>
                </a:solidFill>
              </a:rPr>
              <a:t>中文要点：特征向量方向不变，特征值描述伸缩倍数。</a:t>
            </a:r>
          </a:p>
        </p:txBody>
      </p:sp>
      <p:sp>
        <p:nvSpPr>
          <p:cNvPr id="9" name="Box"/>
          <p:cNvSpPr/>
          <p:nvPr/>
        </p:nvSpPr>
        <p:spPr>
          <a:xfrm>
            <a:off x="6400800" y="457200"/>
            <a:ext cx="2286000" cy="1143000"/>
          </a:xfrm>
          <a:prstGeom prst="roundRect">
            <a:avLst/>
          </a:prstGeom>
          <a:solidFill>
            <a:srgbClr val="E7F1EC"/>
          </a:solidFill>
        </p:spPr>
        <p:txBody>
          <a:bodyPr/>
          <a:lstStyle/>
          <a:p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838200" y="457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1F5C46"/>
                </a:solidFill>
              </a:rPr>
              <a:t>Why it matters</a:t>
            </a:r>
          </a:p>
        </p:txBody>
      </p:sp>
      <p:sp>
        <p:nvSpPr>
          <p:cNvPr id="3" name="Body"/>
          <p:cNvSpPr/>
          <p:nvPr/>
        </p:nvSpPr>
        <p:spPr>
          <a:xfrm>
            <a:off x="838200" y="1828800"/>
            <a:ext cx="7772400" cy="3886200"/>
          </a:xfrm>
          <a:prstGeom prst="rect">
            <a:avLst/>
          </a:prstGeom>
        </p:spPr>
        <p:txBody>
          <a:bodyPr/>
          <a:lstStyle/>
          <a:p>
            <a:pPr marL="285750">
              <a:buChar char="•"/>
            </a:pPr>
            <a:r>
              <a:rPr lang="en-US" sz="1600" b="0">
                <a:solidFill>
                  <a:srgbClr val="333333"/>
                </a:solidFill>
              </a:rPr>
              <a:t>Diagonalisation becomes trivial in the eigenbasis.</a:t>
            </a:r>
          </a:p>
          <a:p>
            <a:pPr marL="285750">
              <a:buChar char="•"/>
            </a:pPr>
            <a:r>
              <a:rPr lang="en-US" sz="1600" b="0">
                <a:solidFill>
                  <a:srgbClr val="333333"/>
                </a:solidFill>
              </a:rPr>
              <a:t>PCA, vibrations, Markov chains all reduce to eigenproblems.</a:t>
            </a:r>
          </a:p>
          <a:p>
            <a:pPr marL="285750">
              <a:buNone/>
            </a:pPr>
            <a:r>
              <a:rPr lang="en-US" sz="1800" b="1">
                <a:solidFill>
                  <a:srgbClr val="B0432F"/>
                </a:solidFill>
              </a:rPr>
              <a:t>A = P D P^-1</a:t>
            </a:r>
          </a:p>
        </p:txBody>
      </p:sp>
      <p:pic>
        <p:nvPicPr>
          <p:cNvPr id="4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0" y="3200400"/>
            <a:ext cx="2286000" cy="171450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T">
  <a:themeElements>
    <a:clrScheme name="C">
      <a:dk1>
        <a:srgbClr val="16211D"/>
      </a:dk1>
      <a:lt1>
        <a:srgbClr val="FFFFFF"/>
      </a:lt1>
      <a:dk2>
        <a:srgbClr val="44546A"/>
      </a:dk2>
      <a:lt2>
        <a:srgbClr val="E7E6E6"/>
      </a:lt2>
      <a:accent1>
        <a:srgbClr val="1F5C4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">
      <a:majorFont>
        <a:latin typeface="Calibri Light"/>
      </a:majorFont>
      <a:minorFont>
        <a:latin typeface="Calibri"/>
      </a:minorFont>
    </a:fontScheme>
  </a:themeElements>
</a:theme>
</file>